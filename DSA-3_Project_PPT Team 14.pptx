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 smtClean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Smart Spell Checker: Dictionary-Based Query Correction Using Maximum Edit Distance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dirty="0">
                <a:solidFill>
                  <a:srgbClr val="0070C0"/>
                </a:solidFill>
              </a:rPr>
              <a:t>Dhurga Meenakshi Yenduri – 2520030270</a:t>
            </a:r>
          </a:p>
          <a:p>
            <a:r>
              <a:rPr lang="en-US" dirty="0">
                <a:solidFill>
                  <a:srgbClr val="0070C0"/>
                </a:solidFill>
              </a:rPr>
              <a:t>Prashanthi Dabbugunta – 2520030301</a:t>
            </a:r>
          </a:p>
          <a:p>
            <a:r>
              <a:rPr lang="en-US" dirty="0">
                <a:solidFill>
                  <a:srgbClr val="0070C0"/>
                </a:solidFill>
              </a:rPr>
              <a:t>Alahari Thapaswi – 2520030223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Name of the </a:t>
            </a:r>
            <a:r>
              <a:rPr lang="en-US" sz="1800" b="1" kern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DSA-3 </a:t>
            </a: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faculty name with designation and department 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10" name="Content Box"/>
          <p:cNvSpPr txBox="1"/>
          <p:nvPr/>
        </p:nvSpPr>
        <p:spPr>
          <a:xfrm>
            <a:off x="900000" y="1150000"/>
            <a:ext cx="10400000" cy="5450000"/>
          </a:xfrm>
          <a:prstGeom prst="rect">
            <a:avLst/>
          </a:prstGeom>
          <a:noFill/>
        </p:spPr>
        <p:txBody>
          <a:bodyPr wrap="square">
            <a:normAutofit fontScale="90000" lnSpcReduction="10000"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/>
              <a:t>Searching for correctly spelled words within a large word list is a common problem across search engines, text editors, chat applications and online forms, where user input is rarely free of typing errors.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This project designs and implements a Dictionary-based Query Correction System that accepts a possibly misspelled user Query, compares it against every word stored in a Dictionary, and returns the closest valid word(s).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The Dictionary stores a curated vocabulary of valid words and supports efficient membership testing and iteration during the matching process.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The core matching technique is the Levenshtein Edit Distance algorithm, computed using a Dynamic Programming table that counts the minimum insertions, deletions and substitutions required to convert the query into a dictionary word.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A Maximum Edit Distance threshold (e.g., 1 or 2) is fixed so only sufficiently "close" dictionary words qualify as suggestions, keeping results relevant.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The final output is a ranked list of suggested corrections, ordered by increasing edit distance, presenting the most likely intended word first.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10" name="Content Box"/>
          <p:cNvSpPr txBox="1"/>
          <p:nvPr/>
        </p:nvSpPr>
        <p:spPr>
          <a:xfrm>
            <a:off x="900000" y="1150000"/>
            <a:ext cx="10400000" cy="545000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/>
              <a:t>Typing errors — missed keystrokes, transposed letters, or extra characters — are extremely common when users type search queries, messages or documents.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A rigid exact-match search fails completely when a typed Query does not match any word in the Dictionary character-for-character, even if it is only one letter off from a valid word.</a:t>
            </a:r>
          </a:p>
          <a:p>
            <a:pPr marL="285750" indent="-285750">
              <a:buFont typeface="Arial"/>
              <a:buChar char="•"/>
            </a:pPr>
            <a:r>
              <a:rPr lang="en-US" sz="1800" b="1" dirty="0"/>
              <a:t>Edit Distance (Levenshtein Distance): </a:t>
            </a:r>
            <a:r>
              <a:rPr lang="en-US" sz="1800" dirty="0"/>
              <a:t>the minimum number of single-character insertions, deletions or substitutions needed to transform one string into another. E.g., the edit distance between "kitten" and "sitting" is 3.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Fixing a Maximum Edit Distance threshold lets the system treat every dictionary word whose distance from the query is within that threshold as a valid candidate, while discarding words that are too different to be useful.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Real-world applications: search-engine "Did you mean...?" suggestions, word-processor spell-checkers, mobile-keyboard autocorrect, DNA sequence alignment, and plagiarism/similarity detection.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This project combines a Dictionary data structure, a Query pre-processing step, and a Dynamic-Programming based Edit-Distance engine into a single, practical spell-correction and suggestion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10" name="Literature Table"/>
          <p:cNvGraphicFramePr>
            <a:graphicFrameLocks noGrp="1"/>
          </p:cNvGraphicFramePr>
          <p:nvPr/>
        </p:nvGraphicFramePr>
        <p:xfrm>
          <a:off x="900000" y="1150000"/>
          <a:ext cx="10400000" cy="5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000"/>
                <a:gridCol w="2500000"/>
                <a:gridCol w="2500000"/>
                <a:gridCol w="4700000"/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S.No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Author &amp; Year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Technique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Key Idea / Limitation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9600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Levenshtein (1966)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Classical Edit 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Dynamic-programming metric for minimum edit operations; O(n·m) per pair, basis of most later work.</a:t>
                      </a:r>
                    </a:p>
                  </a:txBody>
                  <a:tcPr anchor="ctr"/>
                </a:tc>
              </a:tr>
              <a:tr h="9600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Peter Norvig (2007)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Probabilistic Spell Correction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Generates edits within distance 1-2, ranks by corpus word frequency; simple but effective for small distances.</a:t>
                      </a:r>
                    </a:p>
                  </a:txBody>
                  <a:tcPr anchor="ctr"/>
                </a:tc>
              </a:tr>
              <a:tr h="9600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Burkhard &amp; Keller (1973)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BK-Tree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Organizes the dictionary as a metric tree using edit distance; prunes the search space for faster nearest-neighbour queries.</a:t>
                      </a:r>
                    </a:p>
                  </a:txBody>
                  <a:tcPr anchor="ctr"/>
                </a:tc>
              </a:tr>
              <a:tr h="9600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Fredkin (1960)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Trie (Prefix Tree)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Stores dictionary words character-by-character for fast prefix search and compact storage; widely used in autocomplete.</a:t>
                      </a:r>
                    </a:p>
                  </a:txBody>
                  <a:tcPr anchor="ctr"/>
                </a:tc>
              </a:tr>
              <a:tr h="9600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Garbe, SymSpell (2012)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Symmetric Delete Spelling Correction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Precomputes all deletions of dictionary words; trades memory for very high lookup speed compared to plain DP.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10" name="Content Box"/>
          <p:cNvSpPr txBox="1"/>
          <p:nvPr/>
        </p:nvSpPr>
        <p:spPr>
          <a:xfrm>
            <a:off x="900000" y="1250000"/>
            <a:ext cx="10400000" cy="545000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r>
              <a:rPr lang="en-US" sz="1900" b="1" dirty="0">
                <a:solidFill>
                  <a:srgbClr val="C00000"/>
                </a:solidFill>
              </a:rPr>
              <a:t>Problem Statement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/>
              <a:t>Users frequently enter misspelled, incomplete, or partially correct queries when searching a dictionary or database. A rigid exact-match search either returns no results or misses the intended word entirely, even when the query is only one or two characters away from being correct.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/>
              <a:t>There is a need for an approximate-matching system that tolerates small typing mistakes while still returning meaningful, closely related results within a controlled and predictable margin of error.</a:t>
            </a:r>
          </a:p>
          <a:p>
            <a:r>
              <a:rPr lang="en-US" sz="1900" b="1" dirty="0">
                <a:solidFill>
                  <a:srgbClr val="C00000"/>
                </a:solidFill>
              </a:rPr>
              <a:t>Objectives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/>
              <a:t>Design and implement a Dictionary data structure to store and index a large word list efficiently.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/>
              <a:t>Accept a user Query and normalize it through preprocessing steps such as case-folding, trimming, and whitespace removal.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/>
              <a:t>Compute the edit distance between the query and every dictionary word using a dynamic-programming recurrence.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/>
              <a:t>Return all dictionary words within a specified Maximum Edit Distance, ranked in ascending order of distance.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/>
              <a:t>Evaluate the system's accuracy, response time, and behaviour as the maximum edit distance and dictionary size increase.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10" name="Box1"/>
          <p:cNvSpPr/>
          <p:nvPr/>
        </p:nvSpPr>
        <p:spPr>
          <a:xfrm>
            <a:off x="3846000" y="1050000"/>
            <a:ext cx="4500000" cy="600000"/>
          </a:xfrm>
          <a:prstGeom prst="roundRect">
            <a:avLst/>
          </a:prstGeom>
          <a:solidFill>
            <a:srgbClr val="C00000"/>
          </a:solidFill>
          <a:ln>
            <a:solidFill>
              <a:srgbClr val="800000"/>
            </a:solidFill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Start</a:t>
            </a:r>
          </a:p>
        </p:txBody>
      </p:sp>
      <p:cxnSp>
        <p:nvCxnSpPr>
          <p:cNvPr id="11" name="Arrow1"/>
          <p:cNvCxnSpPr/>
          <p:nvPr/>
        </p:nvCxnSpPr>
        <p:spPr>
          <a:xfrm>
            <a:off x="6096000" y="1650000"/>
            <a:ext cx="0" cy="23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</p:cxnSp>
      <p:sp>
        <p:nvSpPr>
          <p:cNvPr id="12" name="Box2"/>
          <p:cNvSpPr/>
          <p:nvPr/>
        </p:nvSpPr>
        <p:spPr>
          <a:xfrm>
            <a:off x="3346000" y="1880000"/>
            <a:ext cx="5500000" cy="650000"/>
          </a:xfrm>
          <a:prstGeom prst="rect">
            <a:avLst/>
          </a:prstGeom>
          <a:solidFill>
            <a:srgbClr val="F2E2E2"/>
          </a:solidFill>
          <a:ln>
            <a:solidFill>
              <a:srgbClr val="C00000"/>
            </a:solidFill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1500" dirty="0">
                <a:solidFill>
                  <a:srgbClr val="000000"/>
                </a:solidFill>
              </a:rPr>
              <a:t>Load Dictionary of Valid Words</a:t>
            </a:r>
          </a:p>
        </p:txBody>
      </p:sp>
      <p:cxnSp>
        <p:nvCxnSpPr>
          <p:cNvPr id="13" name="Arrow2"/>
          <p:cNvCxnSpPr/>
          <p:nvPr/>
        </p:nvCxnSpPr>
        <p:spPr>
          <a:xfrm>
            <a:off x="6096000" y="2530000"/>
            <a:ext cx="0" cy="23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</p:cxnSp>
      <p:sp>
        <p:nvSpPr>
          <p:cNvPr id="14" name="Box3"/>
          <p:cNvSpPr/>
          <p:nvPr/>
        </p:nvSpPr>
        <p:spPr>
          <a:xfrm>
            <a:off x="3346000" y="2760000"/>
            <a:ext cx="5500000" cy="650000"/>
          </a:xfrm>
          <a:prstGeom prst="rect">
            <a:avLst/>
          </a:prstGeom>
          <a:solidFill>
            <a:srgbClr val="F2E2E2"/>
          </a:solidFill>
          <a:ln>
            <a:solidFill>
              <a:srgbClr val="C00000"/>
            </a:solidFill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1500" dirty="0">
                <a:solidFill>
                  <a:srgbClr val="000000"/>
                </a:solidFill>
              </a:rPr>
              <a:t>Accept &amp; Preprocess User Query</a:t>
            </a:r>
          </a:p>
        </p:txBody>
      </p:sp>
      <p:cxnSp>
        <p:nvCxnSpPr>
          <p:cNvPr id="15" name="Arrow3"/>
          <p:cNvCxnSpPr/>
          <p:nvPr/>
        </p:nvCxnSpPr>
        <p:spPr>
          <a:xfrm>
            <a:off x="6096000" y="3410000"/>
            <a:ext cx="0" cy="23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</p:cxnSp>
      <p:sp>
        <p:nvSpPr>
          <p:cNvPr id="16" name="Box4"/>
          <p:cNvSpPr/>
          <p:nvPr/>
        </p:nvSpPr>
        <p:spPr>
          <a:xfrm>
            <a:off x="3346000" y="3640000"/>
            <a:ext cx="5500000" cy="650000"/>
          </a:xfrm>
          <a:prstGeom prst="rect">
            <a:avLst/>
          </a:prstGeom>
          <a:solidFill>
            <a:srgbClr val="F2E2E2"/>
          </a:solidFill>
          <a:ln>
            <a:solidFill>
              <a:srgbClr val="C00000"/>
            </a:solidFill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1500" dirty="0">
                <a:solidFill>
                  <a:srgbClr val="000000"/>
                </a:solidFill>
              </a:rPr>
              <a:t>Compute Edit Distance: Query vs. Each Dictionary Word</a:t>
            </a:r>
          </a:p>
        </p:txBody>
      </p:sp>
      <p:cxnSp>
        <p:nvCxnSpPr>
          <p:cNvPr id="17" name="Arrow4"/>
          <p:cNvCxnSpPr/>
          <p:nvPr/>
        </p:nvCxnSpPr>
        <p:spPr>
          <a:xfrm>
            <a:off x="6096000" y="4290000"/>
            <a:ext cx="0" cy="23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</p:cxnSp>
      <p:sp>
        <p:nvSpPr>
          <p:cNvPr id="18" name="Box5"/>
          <p:cNvSpPr/>
          <p:nvPr/>
        </p:nvSpPr>
        <p:spPr>
          <a:xfrm>
            <a:off x="3346000" y="4520000"/>
            <a:ext cx="5500000" cy="650000"/>
          </a:xfrm>
          <a:prstGeom prst="rect">
            <a:avLst/>
          </a:prstGeom>
          <a:solidFill>
            <a:srgbClr val="F2E2E2"/>
          </a:solidFill>
          <a:ln>
            <a:solidFill>
              <a:srgbClr val="C00000"/>
            </a:solidFill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1500" dirty="0">
                <a:solidFill>
                  <a:srgbClr val="000000"/>
                </a:solidFill>
              </a:rPr>
              <a:t>Keep Words within Maximum Edit Distance</a:t>
            </a:r>
          </a:p>
        </p:txBody>
      </p:sp>
      <p:cxnSp>
        <p:nvCxnSpPr>
          <p:cNvPr id="19" name="Arrow5"/>
          <p:cNvCxnSpPr/>
          <p:nvPr/>
        </p:nvCxnSpPr>
        <p:spPr>
          <a:xfrm>
            <a:off x="6096000" y="5170000"/>
            <a:ext cx="0" cy="23000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</p:cxnSp>
      <p:sp>
        <p:nvSpPr>
          <p:cNvPr id="20" name="Box6"/>
          <p:cNvSpPr/>
          <p:nvPr/>
        </p:nvSpPr>
        <p:spPr>
          <a:xfrm>
            <a:off x="3846000" y="5400000"/>
            <a:ext cx="4500000" cy="600000"/>
          </a:xfrm>
          <a:prstGeom prst="roundRect">
            <a:avLst/>
          </a:prstGeom>
          <a:solidFill>
            <a:srgbClr val="C00000"/>
          </a:solidFill>
          <a:ln>
            <a:solidFill>
              <a:srgbClr val="800000"/>
            </a:solidFill>
          </a:ln>
        </p:spPr>
        <p:txBody>
          <a:bodyPr anchor="ctr" wrap="square">
            <a:norm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Display Ranked Suggestions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0" name="Content Box"/>
          <p:cNvSpPr txBox="1"/>
          <p:nvPr/>
        </p:nvSpPr>
        <p:spPr>
          <a:xfrm>
            <a:off x="900000" y="1150000"/>
            <a:ext cx="10400000" cy="23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dirty="0"/>
              <a:t>The system was tested on a dictionary of common English words with a Maximum Edit Distance of 2. Query response time remained low due to the indexed Dictionary and Dynamic-Programming based distance computation.</a:t>
            </a:r>
          </a:p>
          <a:p>
            <a:pPr marL="285750" indent="-285750">
              <a:buFont typeface="Arial"/>
              <a:buChar char="•"/>
            </a:pPr>
            <a:r>
              <a:rPr lang="en-US" sz="1700" dirty="0"/>
              <a:t>Increasing the Maximum Edit Distance improved recall but increased the number of candidate matches and processing time. Sample outputs are shown below:</a:t>
            </a:r>
          </a:p>
        </p:txBody>
      </p:sp>
      <p:graphicFrame>
        <p:nvGraphicFramePr>
          <p:cNvPr id="11" name="Results Table"/>
          <p:cNvGraphicFramePr>
            <a:graphicFrameLocks noGrp="1"/>
          </p:cNvGraphicFramePr>
          <p:nvPr/>
        </p:nvGraphicFramePr>
        <p:xfrm>
          <a:off x="900000" y="3550000"/>
          <a:ext cx="10400000" cy="2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0000"/>
                <a:gridCol w="3100000"/>
                <a:gridCol w="2100000"/>
                <a:gridCol w="2100000"/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Query (Misspelled)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Top Suggestion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Edit Distance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Candidates Found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"recieve"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receive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anchor="ctr"/>
                </a:tc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"wrold"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world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/>
                </a:tc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"definately"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definitely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0" name="Hardware Box"/>
          <p:cNvSpPr txBox="1"/>
          <p:nvPr/>
        </p:nvSpPr>
        <p:spPr>
          <a:xfrm>
            <a:off x="800000" y="1300000"/>
            <a:ext cx="5300000" cy="50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Hardware Requirements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Processor: Intel i3 or equivalent, and above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RAM: 4 GB minimum (8 GB recommended for large dictionaries)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Storage: 500 MB free disk space for dictionary and program files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Display: Standard monitor for running and demonstrating the application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Input devices: Standard keyboard and mouse for entering queries</a:t>
            </a:r>
          </a:p>
        </p:txBody>
      </p:sp>
      <p:sp>
        <p:nvSpPr>
          <p:cNvPr id="11" name="Software Box"/>
          <p:cNvSpPr txBox="1"/>
          <p:nvPr/>
        </p:nvSpPr>
        <p:spPr>
          <a:xfrm>
            <a:off x="6300000" y="1300000"/>
            <a:ext cx="5300000" cy="50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Software Requirements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Operating System: Windows / Linux / macOS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Programming Language: Python / Java / C++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IDE: VS Code / PyCharm / Eclipse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Libraries: Standard data structure and string-handling libraries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Version Control: Git / GitHub for source-code management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Documentation: MS Word / PowerPoint for report and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0" name="Content Box"/>
          <p:cNvSpPr txBox="1"/>
          <p:nvPr/>
        </p:nvSpPr>
        <p:spPr>
          <a:xfrm>
            <a:off x="900000" y="1150000"/>
            <a:ext cx="10400000" cy="5450000"/>
          </a:xfrm>
          <a:prstGeom prst="rect">
            <a:avLst/>
          </a:prstGeom>
          <a:noFill/>
        </p:spPr>
        <p:txBody>
          <a:bodyPr wrap="square">
            <a:normAutofit fontScale="90000" lnSpcReduction="10000"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/>
              <a:t>The project successfully demonstrates how a Dictionary data structure combined with the Maximum Edit Distance algorithm can correct and suggest words for misspelled queries.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Dynamic Programming provides an efficient, mathematically well-defined way to compute edit distance, and restricting suggestions to a maximum distance keeps the results relevant rather than overwhelming.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Testing on sample misspelled queries such as "recieve", "wrold" and "definately" confirmed that the system consistently returns the intended word among the top-ranked suggestions.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The system balances accuracy and performance, returning relevant word suggestions within acceptable response times even as the dictionary grows.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Overall, the approach is simple to implement, easy to extend, and directly applicable to real-world tools such as search engines, text editors and messaging platforms.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10" name="Content Box"/>
          <p:cNvSpPr txBox="1"/>
          <p:nvPr/>
        </p:nvSpPr>
        <p:spPr>
          <a:xfrm>
            <a:off x="900000" y="1150000"/>
            <a:ext cx="10400000" cy="5450000"/>
          </a:xfrm>
          <a:prstGeom prst="rect">
            <a:avLst/>
          </a:prstGeom>
          <a:noFill/>
        </p:spPr>
        <p:txBody>
          <a:bodyPr wrap="square">
            <a:normAutofit fontScale="90000" lnSpcReduction="10000"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/>
              <a:t>Incorporate word-frequency ranking (as in Norvig's approach) to prioritize commonly used words among candidate suggestions with the same edit distance.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Use advanced structures such as BK-Trees, Tries, or the SymSpell technique to reduce search time on very large dictionaries.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Add support for phonetic matching (e.g. Soundex, Metaphone) to catch sound-alike spelling errors that edit distance alone may miss.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Extend the system to support multiple languages and domain-specific vocabularies (e.g. medical or technical terms).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Introduce a machine-learning ranking model that learns from user click behaviour to improve suggestion relevance over time.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Integrate the module into a real-time search or autocomplete application with a graphical user interface.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Thank you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59</Words>
  <Application>Microsoft Office PowerPoint</Application>
  <PresentationFormat>Widescreen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Gautami</vt:lpstr>
      <vt:lpstr>Times New Roman</vt:lpstr>
      <vt:lpstr>Office Theme</vt:lpstr>
      <vt:lpstr>       Data Structures and Algorithms -3 (25CS2103E)  Title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ANITHA CHEKURI</cp:lastModifiedBy>
  <cp:revision>19</cp:revision>
  <dcterms:created xsi:type="dcterms:W3CDTF">2024-08-29T05:25:00Z</dcterms:created>
  <dcterms:modified xsi:type="dcterms:W3CDTF">2026-08-20T05:50:30Z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